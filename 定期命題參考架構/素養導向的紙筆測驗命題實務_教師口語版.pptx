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8b107837f74a93" /><Relationship Type="http://schemas.openxmlformats.org/officeDocument/2006/relationships/extended-properties" Target="/docProps/app.xml" Id="R4336b11883de42f1" /><Relationship Type="http://schemas.openxmlformats.org/officeDocument/2006/relationships/officeDocument" Target="/ppt/presentation.xml" Id="Rcd6f7b15de4144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ab481854904d3d"/>
  </p:sldMasterIdLst>
  <p:notesMasterIdLst>
    <p:notesMasterId xmlns:r="http://schemas.openxmlformats.org/officeDocument/2006/relationships" r:id="R21fa4c617de743e1"/>
  </p:notesMasterIdLst>
  <p:sldIdLst>
    <p:sldId xmlns:r="http://schemas.openxmlformats.org/officeDocument/2006/relationships" id="256" r:id="R2a0cdc6cd4044b20"/>
    <p:sldId xmlns:r="http://schemas.openxmlformats.org/officeDocument/2006/relationships" id="257" r:id="Ra438cd0063fb4ba6"/>
    <p:sldId xmlns:r="http://schemas.openxmlformats.org/officeDocument/2006/relationships" id="258" r:id="Rf16ac0bf54f4427b"/>
    <p:sldId xmlns:r="http://schemas.openxmlformats.org/officeDocument/2006/relationships" id="259" r:id="R71ea803ea1734867"/>
    <p:sldId xmlns:r="http://schemas.openxmlformats.org/officeDocument/2006/relationships" id="260" r:id="Rf1bce7fefd72432b"/>
    <p:sldId xmlns:r="http://schemas.openxmlformats.org/officeDocument/2006/relationships" id="261" r:id="R725fea3ef8524262"/>
    <p:sldId xmlns:r="http://schemas.openxmlformats.org/officeDocument/2006/relationships" id="262" r:id="R0062e1fb4e784aca"/>
    <p:sldId xmlns:r="http://schemas.openxmlformats.org/officeDocument/2006/relationships" id="263" r:id="R19f1f2e141c14a6c"/>
    <p:sldId xmlns:r="http://schemas.openxmlformats.org/officeDocument/2006/relationships" id="264" r:id="R0b5a867f2638482b"/>
    <p:sldId xmlns:r="http://schemas.openxmlformats.org/officeDocument/2006/relationships" id="265" r:id="R30ec2d15ee9647d9"/>
    <p:sldId xmlns:r="http://schemas.openxmlformats.org/officeDocument/2006/relationships" id="266" r:id="R8e1d0bda55004f4b"/>
    <p:sldId xmlns:r="http://schemas.openxmlformats.org/officeDocument/2006/relationships" id="267" r:id="Ra2b06b96ee0843e9"/>
    <p:sldId xmlns:r="http://schemas.openxmlformats.org/officeDocument/2006/relationships" id="268" r:id="Rf261214078cf4c9b"/>
    <p:sldId xmlns:r="http://schemas.openxmlformats.org/officeDocument/2006/relationships" id="269" r:id="R16428630098e4d08"/>
    <p:sldId xmlns:r="http://schemas.openxmlformats.org/officeDocument/2006/relationships" id="270" r:id="R7db893d5fb6c4831"/>
    <p:sldId xmlns:r="http://schemas.openxmlformats.org/officeDocument/2006/relationships" id="271" r:id="Ra432abba788c43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5f6b5977eb4047" /><Relationship Type="http://schemas.openxmlformats.org/officeDocument/2006/relationships/slideMaster" Target="/ppt/slideMasters/slideMaster1.xml" Id="Rd1ab481854904d3d" /><Relationship Type="http://schemas.openxmlformats.org/officeDocument/2006/relationships/notesMaster" Target="/ppt/notesMasters/notesMaster1.xml" Id="R21fa4c617de743e1" /><Relationship Type="http://schemas.openxmlformats.org/officeDocument/2006/relationships/presProps" Target="/ppt/presProps.xml" Id="R329bd85a135e4ae5" /><Relationship Type="http://schemas.openxmlformats.org/officeDocument/2006/relationships/tableStyles" Target="/ppt/tableStyles.xml" Id="R5def0abb80024d09" /><Relationship Type="http://schemas.openxmlformats.org/officeDocument/2006/relationships/slide" Target="/ppt/slides/slide1.xml" Id="R2a0cdc6cd4044b20" /><Relationship Type="http://schemas.openxmlformats.org/officeDocument/2006/relationships/slide" Target="/ppt/slides/slide2.xml" Id="Ra438cd0063fb4ba6" /><Relationship Type="http://schemas.openxmlformats.org/officeDocument/2006/relationships/slide" Target="/ppt/slides/slide3.xml" Id="Rf16ac0bf54f4427b" /><Relationship Type="http://schemas.openxmlformats.org/officeDocument/2006/relationships/slide" Target="/ppt/slides/slide4.xml" Id="R71ea803ea1734867" /><Relationship Type="http://schemas.openxmlformats.org/officeDocument/2006/relationships/slide" Target="/ppt/slides/slide5.xml" Id="Rf1bce7fefd72432b" /><Relationship Type="http://schemas.openxmlformats.org/officeDocument/2006/relationships/slide" Target="/ppt/slides/slide6.xml" Id="R725fea3ef8524262" /><Relationship Type="http://schemas.openxmlformats.org/officeDocument/2006/relationships/slide" Target="/ppt/slides/slide7.xml" Id="R0062e1fb4e784aca" /><Relationship Type="http://schemas.openxmlformats.org/officeDocument/2006/relationships/slide" Target="/ppt/slides/slide8.xml" Id="R19f1f2e141c14a6c" /><Relationship Type="http://schemas.openxmlformats.org/officeDocument/2006/relationships/slide" Target="/ppt/slides/slide9.xml" Id="R0b5a867f2638482b" /><Relationship Type="http://schemas.openxmlformats.org/officeDocument/2006/relationships/slide" Target="/ppt/slides/slide10.xml" Id="R30ec2d15ee9647d9" /><Relationship Type="http://schemas.openxmlformats.org/officeDocument/2006/relationships/slide" Target="/ppt/slides/slide11.xml" Id="R8e1d0bda55004f4b" /><Relationship Type="http://schemas.openxmlformats.org/officeDocument/2006/relationships/slide" Target="/ppt/slides/slide12.xml" Id="Ra2b06b96ee0843e9" /><Relationship Type="http://schemas.openxmlformats.org/officeDocument/2006/relationships/slide" Target="/ppt/slides/slide13.xml" Id="Rf261214078cf4c9b" /><Relationship Type="http://schemas.openxmlformats.org/officeDocument/2006/relationships/slide" Target="/ppt/slides/slide14.xml" Id="R16428630098e4d08" /><Relationship Type="http://schemas.openxmlformats.org/officeDocument/2006/relationships/slide" Target="/ppt/slides/slide15.xml" Id="R7db893d5fb6c4831" /><Relationship Type="http://schemas.openxmlformats.org/officeDocument/2006/relationships/slide" Target="/ppt/slides/slide16.xml" Id="Ra432abba788c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86da7c64c64b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12d9aafe5b4ada" /><Relationship Type="http://schemas.openxmlformats.org/officeDocument/2006/relationships/notesMaster" Target="/ppt/notesMasters/notesMaster1.xml" Id="Rf6827c44e12f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333f756651485c" /><Relationship Type="http://schemas.openxmlformats.org/officeDocument/2006/relationships/notesMaster" Target="/ppt/notesMasters/notesMaster1.xml" Id="R99d5bb3861c644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f41b15e1714f82" /><Relationship Type="http://schemas.openxmlformats.org/officeDocument/2006/relationships/notesMaster" Target="/ppt/notesMasters/notesMaster1.xml" Id="R26900321f62244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2b1c7d1e6e46d9" /><Relationship Type="http://schemas.openxmlformats.org/officeDocument/2006/relationships/notesMaster" Target="/ppt/notesMasters/notesMaster1.xml" Id="R7708212af86048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4e7420246f4bac" /><Relationship Type="http://schemas.openxmlformats.org/officeDocument/2006/relationships/notesMaster" Target="/ppt/notesMasters/notesMaster1.xml" Id="R9e969c3b486f4f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d8f82a882b4238" /><Relationship Type="http://schemas.openxmlformats.org/officeDocument/2006/relationships/notesMaster" Target="/ppt/notesMasters/notesMaster1.xml" Id="R2d4b487df6fa4a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3e2418e2ee4bef" /><Relationship Type="http://schemas.openxmlformats.org/officeDocument/2006/relationships/notesMaster" Target="/ppt/notesMasters/notesMaster1.xml" Id="Rf37a67d6e0a04d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3698f1a8a44243" /><Relationship Type="http://schemas.openxmlformats.org/officeDocument/2006/relationships/notesMaster" Target="/ppt/notesMasters/notesMaster1.xml" Id="Re2722a7e0f7948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83adeb22ea447c" /><Relationship Type="http://schemas.openxmlformats.org/officeDocument/2006/relationships/notesMaster" Target="/ppt/notesMasters/notesMaster1.xml" Id="R1eae6d31addd44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bac2810a5c4da0" /><Relationship Type="http://schemas.openxmlformats.org/officeDocument/2006/relationships/notesMaster" Target="/ppt/notesMasters/notesMaster1.xml" Id="Rba0bb76debc64a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b5e7b9cf6d440b" /><Relationship Type="http://schemas.openxmlformats.org/officeDocument/2006/relationships/notesMaster" Target="/ppt/notesMasters/notesMaster1.xml" Id="R75548953285d46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7ab6e3502c457f" /><Relationship Type="http://schemas.openxmlformats.org/officeDocument/2006/relationships/notesMaster" Target="/ppt/notesMasters/notesMaster1.xml" Id="R187d8c152e8d43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6f5807f7074e28" /><Relationship Type="http://schemas.openxmlformats.org/officeDocument/2006/relationships/notesMaster" Target="/ppt/notesMasters/notesMaster1.xml" Id="Rb3e560237fee4e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3b71e36a7d4949" /><Relationship Type="http://schemas.openxmlformats.org/officeDocument/2006/relationships/notesMaster" Target="/ppt/notesMasters/notesMaster1.xml" Id="Rf07767444d884b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1aea4d86fb40e2" /><Relationship Type="http://schemas.openxmlformats.org/officeDocument/2006/relationships/notesMaster" Target="/ppt/notesMasters/notesMaster1.xml" Id="Rb3bb3c9454f34c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c03fd2bd7644cc" /><Relationship Type="http://schemas.openxmlformats.org/officeDocument/2006/relationships/notesMaster" Target="/ppt/notesMasters/notesMaster1.xml" Id="R39e37be286c249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今天不談把題目寫得多難，而是一起看一件事：學生寫完這一題，我們到底能看見什麼能力。素養題也不是越長越好。好的題目會讓學生運用學過的知識，做出判斷、說明理由，或處理一個有意義的問題。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定期考查是總結性評量，但不是把課本內容全部塞進試卷。我們先決定要看見什麼。比如同樣是梯形面積，可以只看公式代入，也可以看學生能不能判斷資料是否足夠、把答案放回情境解釋。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這是最常見的誤會。把姓名、場景和一段故事加上去，題目不一定就有素養。檢查方法很簡單：把故事刪掉，解法如果完全不變，情境多半只是包裝。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四個要素不用寫成四段課綱文字。命題時，用白話問自己：學生遇到什麼問題、要用哪個知識、要做出什麼表現、最後能不能把所學用出來。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真實不等於學生每天都做過。像判讀一份實驗資料，學生未必在家做過，但它是自然科真實的思考方式。只要情境合乎現實、資訊充分、問題值得解決，就可以使用。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不是每一題都要四步全包。整份試卷可以分工：有些題看基本運用，有些題看詮釋或評估。重點是不要所有題目都停在回憶和代入。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這一題好的地方不是披薩很生活化，而是學生必須辨認直徑和面積的關係。評分時不要只看最後的同意或不同意，要看他有沒有用半徑計算，並說清楚份量差多少。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如果教學目標是兩步驟應用題，題目不需要再問先算什麼、再算什麼。那會把最重要的理解與規畫送給學生。我們可以保留空白，讓學生用算式、圖或一句話表達想法。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問學生你覺得怎樣，容易變成沒有標準的感想題。加上從文中找兩個證據，學生就必須把推論和文本連起來，老師也比較能穩定評分。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原題只要求抄出研究問題和假設，容易背答案。加上控制條件與結果限制，可以看出學生是否理解公平實驗，也能避免把正相關直接說成絕對因果。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這題不是只有炸雞腿一個答案。學生若選咖哩飯，能提出油脂或接受度的合理理由，也可以得分。評分規準要先寫清楚：有讀對資料、有做選擇、有用資料支持。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選擇題最有價值的地方，是錯誤選項能告訴我們學生怎麼錯。每個選項最好都對應一種常見迷思。答案長短、語氣和格式要盡量一致，不要讓學生靠猜題技巧作答。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原簡報用了固定閱讀速度推估，但年級、文本難度、題型和學生差異都很大。校內命題最實用的方法是先估，再請人完整試作。記錄哪一題讀不懂、哪張圖找不到資訊、最後是否有檢查時間。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規準不要只寫答案正確四分。把概念、計算和說明拆開，學生即使有小算錯，仍可能在概念和推理上得分。命題教師也能反過來檢查題目是否真的提供足夠資訊。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審題時先不要問這題漂不漂亮，先問它測什麼、怎麼測、學生能不能公平作答。五個問題中只要有一個答不出來，就值得再修一次。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不用一次把整份試卷全部改成長題組。先挑一題：移除過度提示、讓情境真的參與解題，或要求學生用證據說明。小幅改寫後再試作，通常比一次追求華麗的素養題更可靠。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內容依據：使用者提供之《紙筆測驗的命題原則與素養導向紙筆測驗的要素》與原始 HTML 簡報；例題經口語化與教學用途改寫。封面圖片由 OpenAI 影像生成工具製作。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304711e8b47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49ed37b5094f6c" /><Relationship Type="http://schemas.openxmlformats.org/officeDocument/2006/relationships/slideLayout" Target="/ppt/slideLayouts/slideLayout1.xml" Id="Rd5804d7569ac43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804d7569ac43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5799824854013" /><Relationship Type="http://schemas.openxmlformats.org/officeDocument/2006/relationships/image" Target="/ppt/media/image.png" Id="R284f082e8b9d4a6c" /><Relationship Type="http://schemas.openxmlformats.org/officeDocument/2006/relationships/notesSlide" Target="/ppt/notesSlides/notesSlide1.xml" Id="Raa02cca01e6d45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7f8a74f334373" /><Relationship Type="http://schemas.openxmlformats.org/officeDocument/2006/relationships/notesSlide" Target="/ppt/notesSlides/notesSlide2.xml" Id="R9681235a104b41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38a8c89be419a" /><Relationship Type="http://schemas.openxmlformats.org/officeDocument/2006/relationships/notesSlide" Target="/ppt/notesSlides/notesSlide3.xml" Id="Rc6f884df456e4b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8b524aaaa4c4f" /><Relationship Type="http://schemas.openxmlformats.org/officeDocument/2006/relationships/notesSlide" Target="/ppt/notesSlides/notesSlide4.xml" Id="Rf1565ee6e25147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c60f7a2d74c8a" /><Relationship Type="http://schemas.openxmlformats.org/officeDocument/2006/relationships/notesSlide" Target="/ppt/notesSlides/notesSlide5.xml" Id="Rd76c502a4ba848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2003ddeee4fd5" /><Relationship Type="http://schemas.openxmlformats.org/officeDocument/2006/relationships/notesSlide" Target="/ppt/notesSlides/notesSlide6.xml" Id="Ra298f62c133447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2313918dd4008" /><Relationship Type="http://schemas.openxmlformats.org/officeDocument/2006/relationships/notesSlide" Target="/ppt/notesSlides/notesSlide7.xml" Id="R87b5b715239f46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2d1ca49d94ff4" /><Relationship Type="http://schemas.openxmlformats.org/officeDocument/2006/relationships/notesSlide" Target="/ppt/notesSlides/notesSlide8.xml" Id="R44f64525cbde41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e3ae4847443e9" /><Relationship Type="http://schemas.openxmlformats.org/officeDocument/2006/relationships/notesSlide" Target="/ppt/notesSlides/notesSlide9.xml" Id="R3cb2bbf7472e4b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b8f2ba92d41a5" /><Relationship Type="http://schemas.openxmlformats.org/officeDocument/2006/relationships/notesSlide" Target="/ppt/notesSlides/notesSlide10.xml" Id="R11081126ef9c47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836c125c94acb" /><Relationship Type="http://schemas.openxmlformats.org/officeDocument/2006/relationships/notesSlide" Target="/ppt/notesSlides/notesSlide11.xml" Id="R3f271749889f4c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6e84d79294bb1" /><Relationship Type="http://schemas.openxmlformats.org/officeDocument/2006/relationships/notesSlide" Target="/ppt/notesSlides/notesSlide12.xml" Id="Ra265244aa3ab4c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87314f4b74d58" /><Relationship Type="http://schemas.openxmlformats.org/officeDocument/2006/relationships/notesSlide" Target="/ppt/notesSlides/notesSlide13.xml" Id="R3ede8454060c41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95b13bf11442d" /><Relationship Type="http://schemas.openxmlformats.org/officeDocument/2006/relationships/notesSlide" Target="/ppt/notesSlides/notesSlide14.xml" Id="Rb34902a63a6a43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54f27f2ad4bdc" /><Relationship Type="http://schemas.openxmlformats.org/officeDocument/2006/relationships/notesSlide" Target="/ppt/notesSlides/notesSlide15.xml" Id="R2136fa36f2d144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72a7b789149a4" /><Relationship Type="http://schemas.openxmlformats.org/officeDocument/2006/relationships/image" Target="/ppt/media/image2.png" Id="R6aa8e9b7ce244ad5" /><Relationship Type="http://schemas.openxmlformats.org/officeDocument/2006/relationships/notesSlide" Target="/ppt/notesSlides/notesSlide16.xml" Id="R12ecac608e7a4b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f082e8b9d4a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A1ABF-A4CB-4232-B32E-B781B49F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058C7-017E-45A1-A02F-9D6EFFEF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FE967-1A9D-4E22-BEB4-D13C9CB2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E7E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C4E7E8"/>
                </a:solidFill>
                <a:latin typeface="Noto Sans TC"/>
                <a:ea typeface="Noto Sans TC"/>
                <a:cs typeface="Noto Sans TC"/>
              </a:rPr>
              <a:t>校內命題教師研習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26C09-27EE-47DF-A2C5-25E923C9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7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素養導向的紙筆測驗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9E356-237E-440B-BAC9-6AC1561B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E7F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DCE7F1"/>
                </a:solidFill>
                <a:latin typeface="Noto Sans TC"/>
                <a:ea typeface="Noto Sans TC"/>
                <a:cs typeface="Noto Sans TC"/>
              </a:rPr>
              <a:t>命題實務與校內審題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9B154-49FE-4F18-9CEC-E35475CB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9D899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F9D899"/>
                </a:solidFill>
                <a:latin typeface="Noto Sans TC"/>
                <a:ea typeface="Noto Sans TC"/>
                <a:cs typeface="Noto Sans TC"/>
              </a:rPr>
              <a:t>把教過的內容，變成看得見學生思考的題目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EA6AA-D623-4897-BC63-228F13A0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適用對象：校內定期考查命題教師與審題團隊</a:t>
            </a:r>
          </a:p>
        </p:txBody>
      </p:sp>
    </p:spTree>
    <p:extLst>
      <p:ext uri="{BB962C8B-B14F-4D97-AF65-F5344CB8AC3E}">
        <p14:creationId xmlns:p14="http://schemas.microsoft.com/office/powerpoint/2010/main" val="973450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80937-BF5A-4132-B537-6F64761D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D32EF-AF35-4DD9-9C7A-6A1DEB0C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引起動機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D082B-4116-4CEF-BD61-C6D3A449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02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42E58-2780-44F8-8E5B-EC6FF469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先問：我要看見什麼？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C60C8-7000-4317-97E7-7C3341EE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4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命題前，先把答案以外的能力說清楚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98518-7F50-4B2B-88C2-CFCA4DEC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7D5B9-5EBF-4BAF-AC5C-C9D528AE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只看答案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02D21-3B9B-4D1F-B1C6-A7C6AED3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955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學生會不會背、會不會算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6BBA8-9C0F-48E4-A08A-4D5A7626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A74F1-8AC1-4C00-B6F7-297963BF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看見思考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D235E-5F64-4EFD-A891-853A1F8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480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學生怎麼找資訊、選方法、解釋結果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63D95-25A7-42FC-AF68-44A5B0B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E996E-18C5-4AD8-87CE-F637C518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定期考查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62655-87FA-4909-B9A1-B9AB2534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005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要兼顧學習內容、作答時間與公平性</a:t>
            </a:r>
          </a:p>
        </p:txBody>
      </p:sp>
    </p:spTree>
    <p:extLst>
      <p:ext uri="{BB962C8B-B14F-4D97-AF65-F5344CB8AC3E}">
        <p14:creationId xmlns:p14="http://schemas.microsoft.com/office/powerpoint/2010/main" val="13060599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3C130-554E-438A-9633-E02586E1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4F3E0-670E-4D94-AE45-346F2545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引起動機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63ACB-9B64-4347-93F8-193C42C5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03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3D077-FA0D-403B-8D19-BE0ADA0D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題目變長，不等於素養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37EE95-0709-4BC3-A446-3EFF7FE3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0453B-F62A-441D-AA4F-43E3BA8A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65245-C310-4F82-A73D-6A64E887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看起來有情境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CEDA7-48E7-4A68-90A9-56F41657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花圃是梯形，上底 6 公尺、下底 10 公尺、高 4 公尺。求面積。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FB099-6711-4C9D-91D4-D010E787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08A82-436C-41E4-88F5-3E308B5B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情境拿掉後，仍然只是代公式。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4251F-CC8A-4F1F-BB7E-9B6EAFB5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A621F-45C8-40F2-9951-C4D89AC8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C3D0A-BA73-4999-9F15-87A1ED88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真的需要判斷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86786-7874-4825-BB1B-A6BD7DBB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學校有 35 平方公尺空間。這個花圃放得下嗎？請計算並說明。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32846-5469-42AA-980D-A1A3A0F1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1B56A-2A62-4194-82A4-AFE949C1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學生要計算，也要把結果拿來做決定。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126D6-3637-4EBC-9CE7-782D34F9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75C54-65F2-4219-B901-0B1F69B9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情境必須參與解題，而不是只當故事背景</a:t>
            </a:r>
          </a:p>
        </p:txBody>
      </p:sp>
    </p:spTree>
    <p:extLst>
      <p:ext uri="{BB962C8B-B14F-4D97-AF65-F5344CB8AC3E}">
        <p14:creationId xmlns:p14="http://schemas.microsoft.com/office/powerpoint/2010/main" val="14345823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89E29-DC55-4BB4-A636-8F360BC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804AE-8ABA-48A4-9B9A-B082DE99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D634B-F847-46BD-804F-3E69E1A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04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60F71-1ADA-4E48-BCC4-D987F24E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四個命題要素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EFF2C-5892-4041-89D6-D71E1143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68A4E-4D7A-444D-9064-4B0303F8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90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  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08401-7017-436C-BCF0-9EBD81DF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906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學生為什麼需要處理這個問題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05F79-0D06-46F2-A16C-523A3503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57225-72AE-4261-BDFB-03F8B971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  內容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6C8B2-6963-4F7F-917E-A094118D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717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本次教學真正要檢核的知識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4C8D2-E8C1-444A-B359-FDCE9E32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337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5789C-DE19-408F-8BBA-58CCCDD9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528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  表現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A3F51-2086-4EBA-9B61-F7203C0F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528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學生要計算、推論、比較或說明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74C32-8065-4B43-85F7-00088F6C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118A4-9831-417A-BCAC-9A3081B0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33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04  素養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D99C8-63DA-452A-9ABA-39A5FD2B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339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學生能否把知識用在新的問題上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CA789-5A44-4504-A7F6-60291363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1F6B4-3C9B-418B-9A4B-F65C3060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四項要連在一起，題目才不會偏離教學</a:t>
            </a:r>
          </a:p>
        </p:txBody>
      </p:sp>
    </p:spTree>
    <p:extLst>
      <p:ext uri="{BB962C8B-B14F-4D97-AF65-F5344CB8AC3E}">
        <p14:creationId xmlns:p14="http://schemas.microsoft.com/office/powerpoint/2010/main" val="1732623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C23F3D-1B21-4BFF-81AA-6C27EEFF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07790-EA99-435B-A58D-6EC120D9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EFB3E-602E-49AA-AEB9-DC564B15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05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DED2E-D18A-49E7-B22C-6C68FD79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真實情境有三種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C0FEA-8BBF-48AA-AE4A-ED444A39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91D45-A5FD-400E-9A15-67C7BB76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DC2C3-6DA4-470F-A3AC-3F1FE2B3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BB521-4CC1-490E-BFF0-91AAB512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生活情境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02187-0C32-4D0C-A031-1D16837F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購物、飲食、交通、家庭或社區活動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347A4-3825-4E7E-A9CB-57FBF5AE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A65F0-CD9A-4494-9509-80C153FC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DA52D-6E18-405E-9395-92824D03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AED9D-64BC-4BF0-95CF-A76BFA0A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學習情境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3E516-44B3-425D-A3DD-EBA99592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課堂實驗、閱讀任務、校園調查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E3BF3-82C3-458D-B13B-C00868D9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F63FC-DCE6-4EE0-BE48-9163C6A5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3C062-15C7-4EE4-AED6-314D82ED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8F8ED-A3C9-4002-B4DA-241653B5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學術探究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4D8002-E087-42EE-A037-7FD23B63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讀圖表、判讀史料、分析實驗資料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C9295-716A-4787-8082-62D6FAF7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F0E2D-BB5D-4458-98D6-8923881D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學生沒有親身經歷，也可以是真實問題；關鍵是合乎邏輯、值得處理</a:t>
            </a:r>
          </a:p>
        </p:txBody>
      </p:sp>
    </p:spTree>
    <p:extLst>
      <p:ext uri="{BB962C8B-B14F-4D97-AF65-F5344CB8AC3E}">
        <p14:creationId xmlns:p14="http://schemas.microsoft.com/office/powerpoint/2010/main" val="1704269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6E6E25-9B2E-489D-A300-BE8EB480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0C634-5597-48CB-A91C-1736058F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EAE07-B1D9-4EF1-9E43-D6EC432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06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C39FB-351B-4316-8100-AFEBB52C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一題可以走過四個思考步驟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D9658-3021-4D38-8D40-CC652D18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888EA-F080-4C52-847D-53CAF460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85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  形成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458B1-F81B-4BFC-892B-E796ABE0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8592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把情境整理成圖、表、算式或關係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1C94D-27F2-415C-B930-3D14C129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E1827-ECE2-4189-839E-EE56B4ED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  運用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B94A7-89E1-40C1-A5B1-F83746CF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6700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計算、分類、找證據或執行程序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47D9C-2228-4160-AE2C-818D1619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290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C99C0-EC34-4474-BA72-3BEACE37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  詮釋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F2C388-FD52-4A0A-AB2E-C719574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48075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說明結果在情境中代表什麼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CF081-EB21-4E91-82A1-290A1E41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7E04E-8499-487E-8C3A-E6F3C27E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04  評估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E6266-3768-4CF9-B55B-23D22FF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29150"/>
            <a:ext cx="796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判斷答案是否合理，或比較哪個方案較好</a:t>
            </a:r>
          </a:p>
        </p:txBody>
      </p:sp>
    </p:spTree>
    <p:extLst>
      <p:ext uri="{BB962C8B-B14F-4D97-AF65-F5344CB8AC3E}">
        <p14:creationId xmlns:p14="http://schemas.microsoft.com/office/powerpoint/2010/main" val="218932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1322E-ACDC-435A-866F-AEF267E2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936A3-9D33-4238-B073-485FDEF3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DE4F5-C829-4593-8EF3-5A6EACDE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07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E01AA-8E2E-4DDE-BDC7-190009D4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數學例題：披薩真的一樣多嗎？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F7B77-07E7-40B1-8C32-227AD341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2BD14-D5BD-41D9-9118-1EC32D79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店員說：12 吋披薩賣完了，換成兩個 6 吋，份量一樣。你同意嗎？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FE94B-F028-4B8E-AE29-68283E50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先釐清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2FF72-0417-47AB-96C6-D743E328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70C4B-73A7-4866-8C78-9FD62D76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披薩的吋數指直徑，不是面積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CB1A8-0A72-4956-AB23-D9A13B5C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再計算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DDD34-0B4C-4239-A932-687199C1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AD361-4C43-457D-9FE1-29CFAEA6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12 吋面積約 113.1 平方吋；兩個 6 吋約 56.5 平方吋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D650B-466F-47C8-B714-D33544DE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下判斷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0E560-ABC7-4B23-98CD-7167D2EB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46542-3655-48D5-A4C4-C88188AF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兩個 6 吋大約只有一個 12 吋的一半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5C930-6AA2-4CD2-9438-AEBD84F5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FB5A8-594F-429F-A106-3BD0F4FE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答案要包含計算與理由，才能看見概念理解</a:t>
            </a:r>
          </a:p>
        </p:txBody>
      </p:sp>
    </p:spTree>
    <p:extLst>
      <p:ext uri="{BB962C8B-B14F-4D97-AF65-F5344CB8AC3E}">
        <p14:creationId xmlns:p14="http://schemas.microsoft.com/office/powerpoint/2010/main" val="223576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509D3-1A88-4111-8AFE-A1F16D7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B1C84-23C3-4656-888B-EFBABA79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E3251-D89E-49B5-95BD-C3A3B6DE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08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78BF3-ABF8-4506-9E0A-2741FCDA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數學例題：不要替學生排好步驟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409DC-CE77-4D82-9FB5-6D955ACC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4DD27-DA56-4C89-9647-DFD7AAF7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3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C114C-C847-48EC-938C-3FB4BE4E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提示過多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D1097E-49F0-4ECB-B222-31C8B13D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書架有 65 本，借走 21 本，再放入 35 本。先算什麼？再算什麼？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A871F-CA58-4250-B594-4CB4774D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4979E-4FE4-4FAE-BE2A-5E605644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題目已經替學生安排解題流程。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EC790-89BC-4DE0-B3BC-F6D01A6B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DF4A1-E82B-45F6-B130-BF4A2051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295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7A6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308AB-1D77-422A-9F6E-7A22A524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保留解題空間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B796D-67ED-454A-887D-03AB642E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24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書架有 65 本，借走 21 本，再放入 35 本。現在有幾本？請寫出你的想法。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8A3FB-9967-4B21-A5B4-71CE39D5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2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E7FA9B-FDE9-42F2-98ED-A07587A4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24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學生自己判斷先減後加，也可以用合併算式。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85563-F292-41B5-B792-2729EAF5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2E869-567A-4807-924A-9C33E582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要評量解題能力，就別把策略直接寫在題目裡</a:t>
            </a:r>
          </a:p>
        </p:txBody>
      </p:sp>
    </p:spTree>
    <p:extLst>
      <p:ext uri="{BB962C8B-B14F-4D97-AF65-F5344CB8AC3E}">
        <p14:creationId xmlns:p14="http://schemas.microsoft.com/office/powerpoint/2010/main" val="1212940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30C2E-28DD-4AE5-8DAC-4D529061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2AA54-6B97-4744-8A39-56F8BD81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30620-863D-4478-9711-AD9D4686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09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C538B-B86D-4521-A9A6-DA62F6C1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國語例題：答案要回到文本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F73ED-B16D-4DCF-8AC5-D9C937D5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50F6F-625B-4DCE-B857-452D2ADE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故事中，妹妹原本不想演小狗，後來非常投入。哪一句話最可能改變她？請找兩個情節支持。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F9CF8-A207-4068-B371-00C44D47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選擇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9B1AA-F2AA-4701-9F4E-67A40A06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7A6D2-B67B-4229-ACD5-2F72A932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提出最可能的話，或寫出自己的推論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2D7E3-D79D-4A71-8369-1B0F4DDB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找證據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E8F7F-350A-4C72-90A0-B255AE4C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5CC31-FB7C-4588-810F-9C4D86E5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例如反覆練習、膝蓋受傷仍繼續、演出受到肯定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B79D6-38B1-478B-AB13-EB1072A5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連結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13C44C-306E-49B6-8610-5EF67790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9451E-7B0A-424E-B178-DF8F1807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說明這些表現如何支持自己的推論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19E7E-ED43-4984-BADB-6D24CDA5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674C1-0FA8-492D-8EB2-D484A3C0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高階閱讀不是自由發揮，而是有證據的推論</a:t>
            </a:r>
          </a:p>
        </p:txBody>
      </p:sp>
    </p:spTree>
    <p:extLst>
      <p:ext uri="{BB962C8B-B14F-4D97-AF65-F5344CB8AC3E}">
        <p14:creationId xmlns:p14="http://schemas.microsoft.com/office/powerpoint/2010/main" val="13400957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22EF5-208F-47C4-8071-E9A3437A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FDF1D-9A63-4A3A-A632-F92FEAF6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973BF-41E3-4BC4-84FE-C65B76C7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10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2D2AC-3CA2-48FB-9A28-AA76264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自然例題：從圖表提出可驗證問題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83E01-10A0-4D25-9251-7A781334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2812B-E7DF-443B-B629-27FAC5FA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散佈圖顯示容器體積越大，蠟燭燃燒時間通常越長。請寫出研究問題，並指出還要控制什麼條件。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6FBD5-A9D8-4BCF-B86E-1238CD32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研究問題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BAD74-1332-4C58-AB65-DE05D23A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9E1DF-32C5-4B33-A924-53822C3C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容器體積會不會影響蠟燭燃燒時間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3601F-9BA5-4475-A37C-09722B70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控制條件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029DD-E2F7-4732-9233-7B82B31A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2A6C8-DC54-40F6-8753-1E886324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蠟燭大小、燭芯長度、點火方式等需一致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0F346-E1CC-4CA4-BF0C-FD75C4A6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解讀限制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90FFF-058C-49F4-95E3-281006BB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948A0-74DF-4452-AC86-42BE3E1F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相關趨勢支持假設，但不代表每次結果完全相同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5B68B-2B24-4DD4-A80F-D4F71768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3558B-23C1-44F0-8BFF-294E0D9B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讓學生讀資料、談控制變因，比背實驗結論更能看見探究能力</a:t>
            </a:r>
          </a:p>
        </p:txBody>
      </p:sp>
    </p:spTree>
    <p:extLst>
      <p:ext uri="{BB962C8B-B14F-4D97-AF65-F5344CB8AC3E}">
        <p14:creationId xmlns:p14="http://schemas.microsoft.com/office/powerpoint/2010/main" val="7469835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6A81C-0A46-4966-955E-EAC6957D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2AF99-715B-41F9-A699-E3CEB202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2953E-7CBC-45C0-B15F-3223F022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11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DF34F-73D7-4A08-AAD6-A6DE797D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資料判讀例題：午餐怎麼改比較好？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02259-414C-40D3-83AE-C5DF995E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E8D93-B513-4AF4-B73A-68813B87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0439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五年級午餐調查：炸雞腿 15 人、咖哩飯 12 人、義大利麵 9 人、素食 4 人。若要從前三名選一項改成低油版本，你會選哪一項？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49F77-4771-47C0-97FC-F16B5502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先讀資料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6A3DE-34E3-46CD-B3A2-E467E7CB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7EE3D-8E17-4B3E-BF28-FC1FF5AD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全班共 40 人，前三名是炸雞腿、咖哩飯、義大利麵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C1075-519C-470B-AFFD-476FB8E8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做選擇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55EAD-49EA-40A8-8058-BD4C5956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62677-F47C-4AC8-83A7-0503E11B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可選炸雞腿，因為支持人數最多，改良影響較大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34725E-2A7D-4AD0-9089-DDFF1C94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說明條件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9E160-FE95-4D4E-B8FB-8389CB94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766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9C5D9-8ED5-4356-BAFB-4F031F72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323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其他答案若有合理資料依據，也可以得分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C3FBE7-769E-41D9-A97B-FD5654F0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A14FC-6C09-48AB-8D67-BFB80883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開放題可以有不同答案，但不能沒有判準</a:t>
            </a:r>
          </a:p>
        </p:txBody>
      </p:sp>
    </p:spTree>
    <p:extLst>
      <p:ext uri="{BB962C8B-B14F-4D97-AF65-F5344CB8AC3E}">
        <p14:creationId xmlns:p14="http://schemas.microsoft.com/office/powerpoint/2010/main" val="1615349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B835A-9FAF-4AD4-88CD-F15AB871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E01C9-0D1D-4209-B949-275D6779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維持注意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ED50C-6F82-48D0-96B1-5485187F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12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0DA17-B635-43F6-B71C-2556E454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選擇題的錯誤選項要有診斷力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CAB0E-1566-439D-8152-E7D0DAD9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一個邊長 4 公分的正方體，體積是多少立方公分？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9BA2A-093F-464F-AB31-CD205DE8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4F016-6DA2-452F-BBB0-8FD330D6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59AE1-005C-4F62-A9AB-B80D18F3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把體積誤算成 4 乘以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7AECC-E657-4206-8612-5B5E73F2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D04E6-73B9-47B9-BC6D-02EA0B57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23D37-41A1-44C1-B633-57496A97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3F54F-BE51-4666-9699-3EC14D48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194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把六個面積和體積混在一起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B4175-C112-47B6-A104-953B74E6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0B8D0-2D7E-4EAD-B166-D729D268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D7A64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2D7A64"/>
                </a:solidFill>
                <a:latin typeface="Noto Sans TC"/>
                <a:ea typeface="Noto Sans TC"/>
                <a:cs typeface="Noto Sans TC"/>
              </a:rPr>
              <a:t>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EB347-9096-4B33-93BE-8BB80AC0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0047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B0E4E-18E4-4C7F-8C7B-87B3BFDE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0047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正確理解 4 乘以 4 乘以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AEF27-7DDB-49A7-AF51-90C19189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CA505-ECD6-4E1B-ACAC-C912B995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B84343"/>
                </a:solidFill>
                <a:latin typeface="Noto Sans TC"/>
                <a:ea typeface="Noto Sans TC"/>
                <a:cs typeface="Noto Sans TC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5C492C-B235-4AD8-B2EA-6C4361BF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81525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96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5785F-6304-462E-98B5-863619A5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815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把表面積當成體積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30A7F6-E340-4307-9330-49BBA841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23E6F-9E42-4317-A9D0-CBACB03F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61139-32D3-4816-AF90-1A4E5738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912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干擾選項不是湊數，而是對應學生可能的迷思</a:t>
            </a:r>
          </a:p>
        </p:txBody>
      </p:sp>
    </p:spTree>
    <p:extLst>
      <p:ext uri="{BB962C8B-B14F-4D97-AF65-F5344CB8AC3E}">
        <p14:creationId xmlns:p14="http://schemas.microsoft.com/office/powerpoint/2010/main" val="14436799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410815-F784-4D4E-96E7-3DF0037E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8B7CD-A436-4228-8CE2-390BEE5E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喚起行動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C0761-17DB-4E6E-AD0B-8467E176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13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DFB0B-431A-44E2-96E7-9C75E45E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閱讀負荷要用試作確認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C1A8C-12A4-4647-8200-654599C9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2D536-090C-4D4E-A50B-CA5A4B77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28667-47A2-4BA6-9DAF-C633DF37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6B216-4351-4107-A422-18AEBD02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先估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E11D0-FC60-429B-8022-B0376375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計入題幹、選項、圖表文字與需要書寫的答案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3F71E-4A11-4055-8B50-929D6313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55898-D7C5-485A-AE32-97A6F2A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53EEE-B6EB-4A8D-9D41-D591431D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986B9-3F44-4DE4-B9C0-7414103D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再試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15675-F793-45F1-B700-9A0DBC65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請同年級教師或少量學生在接近正式條件下試作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55D77-9773-435B-A5F8-08DD4E05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07427-0E8D-441C-9738-EBD9BD03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4290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23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AC639-3D72-485B-A62F-EA1644EF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A23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E6A23C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04978-38ED-4C74-B855-A6732271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19375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後修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8E2E0-8B51-4FB8-9A0D-9A119EA7B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81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刪除不影響作答的敘述，修正卡住而非思考的地方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6F92E-AB41-4E81-A2A0-F2B8B673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63AEA8-562A-4D85-9351-9A4675B2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沒有普遍適用的每分鐘字數；最可靠的是實際試作與觀察</a:t>
            </a:r>
          </a:p>
        </p:txBody>
      </p:sp>
    </p:spTree>
    <p:extLst>
      <p:ext uri="{BB962C8B-B14F-4D97-AF65-F5344CB8AC3E}">
        <p14:creationId xmlns:p14="http://schemas.microsoft.com/office/powerpoint/2010/main" val="7523471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09942B-257E-4FEE-A619-F3D161EB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C77FA-1C3F-49AA-8338-1394C5D8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喚起行動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59354-5A74-4D26-BB6E-E5B9B99D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14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8FFC9-6652-4F38-A5DD-6AA482E8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問答題先寫評分規準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18FDA-CF01-4BBA-9862-68685E8C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1E5AA8"/>
                </a:solidFill>
                <a:latin typeface="Noto Sans TC"/>
                <a:ea typeface="Noto Sans TC"/>
                <a:cs typeface="Noto Sans TC"/>
              </a:rPr>
              <a:t>披薩題，滿分 4 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4103A-A608-48F5-B467-944492ED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533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37492-13A7-445C-AF30-AEA41F2B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24075"/>
            <a:ext cx="234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評分面向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E0B02-CA7F-4F9E-8D4A-493AED4B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681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96ABB-A5ED-4305-957B-FA8DCB1C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24075"/>
            <a:ext cx="6619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可觀察表現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418C2-71A6-446B-87EF-FF7BE57A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047875"/>
            <a:ext cx="1628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6C75E-3755-4846-B5E2-5F6392BE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24075"/>
            <a:ext cx="1438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配分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0A46B-BDEE-49CF-9A37-EA4AD4F7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2533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15503-893B-45A8-9D6A-D705A0D0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234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概念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5A7E1-A9C9-43E2-BC9C-152A0E8D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9875"/>
            <a:ext cx="681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CFCB5-A162-44AC-8E4D-519E6F99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86075"/>
            <a:ext cx="6619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知道吋數是直徑，能正確使用半徑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05B21-3ACB-46FD-A25D-D8415614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809875"/>
            <a:ext cx="1628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B1B32-C759-4C25-8CD4-A1A84A30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886075"/>
            <a:ext cx="1438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1 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DC0CC-B9C1-412B-8071-5E5C62E9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533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38C40-1AB3-4BA1-80A1-EA2BEA80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234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計算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62331-0091-46EE-9F56-B170B6F0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71875"/>
            <a:ext cx="681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A2EB96-6A17-4B3E-9F8D-0C0D3599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48075"/>
            <a:ext cx="6619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兩種面積計算正確，或方法正確僅有小算錯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0992F-D3D3-4295-9585-2035B5AD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571875"/>
            <a:ext cx="1628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43A90-498E-4540-BB29-7A6FAA6A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648075"/>
            <a:ext cx="1438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2 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49A420-418E-4972-A6EB-23EAE81E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2533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10D67-8A64-4517-A169-F486E82E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0075"/>
            <a:ext cx="234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說明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0D2B6-65C4-4182-9449-E4E0EECE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68103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8B2BB-652E-4CAD-9E01-EB287D9F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10075"/>
            <a:ext cx="6619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清楚判斷兩個 6 吋約為一個 12 吋的一半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40B63B-6818-451D-AAD9-24485CEA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33875"/>
            <a:ext cx="16287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BA6107-96B9-4852-B6A6-0907069D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10075"/>
            <a:ext cx="14382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1 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F93EB8-AAFF-4131-BD71-A230A96B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F6AB64-EEE9-4F6E-8299-4DB2D5B9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先決定怎麼給分，才能知道題目問得夠不夠清楚</a:t>
            </a:r>
          </a:p>
        </p:txBody>
      </p:sp>
    </p:spTree>
    <p:extLst>
      <p:ext uri="{BB962C8B-B14F-4D97-AF65-F5344CB8AC3E}">
        <p14:creationId xmlns:p14="http://schemas.microsoft.com/office/powerpoint/2010/main" val="868505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F0303-C9A7-4734-A234-8E5D64C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59CFC-AEFB-49B0-AF37-B55218FC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喚起行動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77D22-48A0-476B-84CB-D070F6E5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58677B"/>
                </a:solidFill>
                <a:latin typeface="Noto Sans TC"/>
                <a:ea typeface="Noto Sans TC"/>
                <a:cs typeface="Noto Sans TC"/>
              </a:rPr>
              <a:t>15 / 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93230-6854-447F-9260-697CCADB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defRPr>
            </a:pPr>
            <a:r>
              <a:rPr sz="2625" b="1">
                <a:solidFill>
                  <a:srgbClr val="0B1F3A"/>
                </a:solidFill>
                <a:latin typeface="Noto Sans TC"/>
                <a:ea typeface="Noto Sans TC"/>
                <a:cs typeface="Noto Sans TC"/>
              </a:rPr>
              <a:t>交卷前的五個審題問題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FBB40-F8A6-419E-A995-AB3D92BB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DC9AD-2724-4036-B5F0-249DD569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2400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這題對應哪個學習內容與學習表現？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E7BA9-A710-4AB6-8D76-40027251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145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41FDE-FEA7-4E18-B0BF-D3A737D1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8AB01-F225-47E8-9C04-DA949804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6220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情境拿掉後，題目是否完全沒變？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EC955-791C-48E9-96AE-C750613A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527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F18AA-D797-435C-805F-B960C23A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E5CB3-1B95-4562-A987-F7A2F48A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0040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資訊是否足夠，圖表與單位是否一致？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CD7AD-3183-40F2-9F87-282CAF08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909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2A6BA-F7A3-4041-BC9C-A7AAC369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3740E-E287-4D59-8DB6-80FDAFC1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3860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錯誤選項能否反映常見迷思？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F96D3-437B-4B47-B9F7-3B9B1881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291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F14ED-FA15-42BF-8AC8-AC4C2069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F8B8D"/>
                </a:solidFill>
                <a:latin typeface="Noto Sans TC"/>
                <a:ea typeface="Noto Sans TC"/>
                <a:cs typeface="Noto Sans TC"/>
              </a:rPr>
              <a:t>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43450-0C68-4611-98AC-A9757757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76800"/>
            <a:ext cx="971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172238"/>
                </a:solidFill>
                <a:latin typeface="Noto Sans TC"/>
                <a:ea typeface="Noto Sans TC"/>
                <a:cs typeface="Noto Sans TC"/>
              </a:rPr>
              <a:t>學生能在時間內讀完、思考、作答並檢查嗎？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283BC-AE49-4073-B3E7-BC9ADF9A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673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47272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8e9b7ce244ad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ABF93-03AF-4B2A-906C-825BDC6E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2DA55-9A40-4EC5-BB90-054F4EB0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7724B-575C-449F-A131-D8506171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E7E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C4E7E8"/>
                </a:solidFill>
                <a:latin typeface="Noto Sans TC"/>
                <a:ea typeface="Noto Sans TC"/>
                <a:cs typeface="Noto Sans TC"/>
              </a:rPr>
              <a:t>命題回到學習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9D361-1B72-40B5-AB10-B62FB88D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4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好題目，讓學生的思考被看見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1C2C2-0884-44E4-AFF5-231ACA06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E7F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DCE7F1"/>
                </a:solidFill>
                <a:latin typeface="Noto Sans TC"/>
                <a:ea typeface="Noto Sans TC"/>
                <a:cs typeface="Noto Sans TC"/>
              </a:rPr>
              <a:t>下一次命題，先挑一題做小改寫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7B1C0-033E-41B3-920F-F641B1B3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9D899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F9D899"/>
                </a:solidFill>
                <a:latin typeface="Noto Sans TC"/>
                <a:ea typeface="Noto Sans TC"/>
                <a:cs typeface="Noto Sans TC"/>
              </a:rPr>
              <a:t>少一點包裝，多一個需要判斷、解釋或用證據支持的問題</a:t>
            </a:r>
          </a:p>
        </p:txBody>
      </p:sp>
    </p:spTree>
    <p:extLst>
      <p:ext uri="{BB962C8B-B14F-4D97-AF65-F5344CB8AC3E}">
        <p14:creationId xmlns:p14="http://schemas.microsoft.com/office/powerpoint/2010/main" val="6738999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2026-09-08T08:06:15.2120000Z</dcterms:created>
  <dcterms:modified xsi:type="dcterms:W3CDTF">2026-09-08T08:06:15.2120000Z</dcterms:modified>
</coreProperties>
</file>