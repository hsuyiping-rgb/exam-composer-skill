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5a334b34164e9a" /><Relationship Type="http://schemas.openxmlformats.org/officeDocument/2006/relationships/extended-properties" Target="/docProps/app.xml" Id="R84e905c7b2fc41c8" /><Relationship Type="http://schemas.openxmlformats.org/officeDocument/2006/relationships/officeDocument" Target="/ppt/presentation.xml" Id="R75323b27376e48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ca53ba57824880"/>
  </p:sldMasterIdLst>
  <p:notesMasterIdLst>
    <p:notesMasterId xmlns:r="http://schemas.openxmlformats.org/officeDocument/2006/relationships" r:id="R5f63dacc97bb447d"/>
  </p:notesMasterIdLst>
  <p:sldIdLst>
    <p:sldId xmlns:r="http://schemas.openxmlformats.org/officeDocument/2006/relationships" id="256" r:id="R7c385e64cac54886"/>
    <p:sldId xmlns:r="http://schemas.openxmlformats.org/officeDocument/2006/relationships" id="257" r:id="R0b34f0c3643d44f0"/>
    <p:sldId xmlns:r="http://schemas.openxmlformats.org/officeDocument/2006/relationships" id="258" r:id="R50566a6132d6445e"/>
    <p:sldId xmlns:r="http://schemas.openxmlformats.org/officeDocument/2006/relationships" id="259" r:id="Rddedbf8844054928"/>
    <p:sldId xmlns:r="http://schemas.openxmlformats.org/officeDocument/2006/relationships" id="260" r:id="R8ca401a239b44599"/>
    <p:sldId xmlns:r="http://schemas.openxmlformats.org/officeDocument/2006/relationships" id="261" r:id="Rb2704cdd1a334485"/>
    <p:sldId xmlns:r="http://schemas.openxmlformats.org/officeDocument/2006/relationships" id="262" r:id="R4f25dbfa3e594705"/>
    <p:sldId xmlns:r="http://schemas.openxmlformats.org/officeDocument/2006/relationships" id="263" r:id="Rdcf6b57c749145b2"/>
    <p:sldId xmlns:r="http://schemas.openxmlformats.org/officeDocument/2006/relationships" id="264" r:id="R715d3dc2178a480f"/>
    <p:sldId xmlns:r="http://schemas.openxmlformats.org/officeDocument/2006/relationships" id="265" r:id="R85aa8a637b344be5"/>
    <p:sldId xmlns:r="http://schemas.openxmlformats.org/officeDocument/2006/relationships" id="266" r:id="R3f967df12ce94076"/>
    <p:sldId xmlns:r="http://schemas.openxmlformats.org/officeDocument/2006/relationships" id="267" r:id="R7d92e260e19d4fb5"/>
    <p:sldId xmlns:r="http://schemas.openxmlformats.org/officeDocument/2006/relationships" id="268" r:id="R57b10fe8274e4f85"/>
    <p:sldId xmlns:r="http://schemas.openxmlformats.org/officeDocument/2006/relationships" id="269" r:id="R4856cb7584c547e1"/>
    <p:sldId xmlns:r="http://schemas.openxmlformats.org/officeDocument/2006/relationships" id="270" r:id="R0ceeb21fed4b4b4c"/>
    <p:sldId xmlns:r="http://schemas.openxmlformats.org/officeDocument/2006/relationships" id="271" r:id="R71ecad9cc0b549a3"/>
    <p:sldId xmlns:r="http://schemas.openxmlformats.org/officeDocument/2006/relationships" id="272" r:id="Re7ea43dcf94d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938abb56374061" /><Relationship Type="http://schemas.openxmlformats.org/officeDocument/2006/relationships/slideMaster" Target="/ppt/slideMasters/slideMaster1.xml" Id="Rc1ca53ba57824880" /><Relationship Type="http://schemas.openxmlformats.org/officeDocument/2006/relationships/notesMaster" Target="/ppt/notesMasters/notesMaster1.xml" Id="R5f63dacc97bb447d" /><Relationship Type="http://schemas.openxmlformats.org/officeDocument/2006/relationships/presProps" Target="/ppt/presProps.xml" Id="R0e16033b0b1a45ea" /><Relationship Type="http://schemas.openxmlformats.org/officeDocument/2006/relationships/tableStyles" Target="/ppt/tableStyles.xml" Id="R7aeecfb2f7ba4ca1" /><Relationship Type="http://schemas.openxmlformats.org/officeDocument/2006/relationships/slide" Target="/ppt/slides/slide1.xml" Id="R7c385e64cac54886" /><Relationship Type="http://schemas.openxmlformats.org/officeDocument/2006/relationships/slide" Target="/ppt/slides/slide2.xml" Id="R0b34f0c3643d44f0" /><Relationship Type="http://schemas.openxmlformats.org/officeDocument/2006/relationships/slide" Target="/ppt/slides/slide3.xml" Id="R50566a6132d6445e" /><Relationship Type="http://schemas.openxmlformats.org/officeDocument/2006/relationships/slide" Target="/ppt/slides/slide4.xml" Id="Rddedbf8844054928" /><Relationship Type="http://schemas.openxmlformats.org/officeDocument/2006/relationships/slide" Target="/ppt/slides/slide5.xml" Id="R8ca401a239b44599" /><Relationship Type="http://schemas.openxmlformats.org/officeDocument/2006/relationships/slide" Target="/ppt/slides/slide6.xml" Id="Rb2704cdd1a334485" /><Relationship Type="http://schemas.openxmlformats.org/officeDocument/2006/relationships/slide" Target="/ppt/slides/slide7.xml" Id="R4f25dbfa3e594705" /><Relationship Type="http://schemas.openxmlformats.org/officeDocument/2006/relationships/slide" Target="/ppt/slides/slide8.xml" Id="Rdcf6b57c749145b2" /><Relationship Type="http://schemas.openxmlformats.org/officeDocument/2006/relationships/slide" Target="/ppt/slides/slide9.xml" Id="R715d3dc2178a480f" /><Relationship Type="http://schemas.openxmlformats.org/officeDocument/2006/relationships/slide" Target="/ppt/slides/slide10.xml" Id="R85aa8a637b344be5" /><Relationship Type="http://schemas.openxmlformats.org/officeDocument/2006/relationships/slide" Target="/ppt/slides/slide11.xml" Id="R3f967df12ce94076" /><Relationship Type="http://schemas.openxmlformats.org/officeDocument/2006/relationships/slide" Target="/ppt/slides/slide12.xml" Id="R7d92e260e19d4fb5" /><Relationship Type="http://schemas.openxmlformats.org/officeDocument/2006/relationships/slide" Target="/ppt/slides/slide13.xml" Id="R57b10fe8274e4f85" /><Relationship Type="http://schemas.openxmlformats.org/officeDocument/2006/relationships/slide" Target="/ppt/slides/slide14.xml" Id="R4856cb7584c547e1" /><Relationship Type="http://schemas.openxmlformats.org/officeDocument/2006/relationships/slide" Target="/ppt/slides/slide15.xml" Id="R0ceeb21fed4b4b4c" /><Relationship Type="http://schemas.openxmlformats.org/officeDocument/2006/relationships/slide" Target="/ppt/slides/slide16.xml" Id="R71ecad9cc0b549a3" /><Relationship Type="http://schemas.openxmlformats.org/officeDocument/2006/relationships/slide" Target="/ppt/slides/slide17.xml" Id="Re7ea43dcf94d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c31c74fa14c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e1f94e75914df6" /><Relationship Type="http://schemas.openxmlformats.org/officeDocument/2006/relationships/notesMaster" Target="/ppt/notesMasters/notesMaster1.xml" Id="R71bcddeafbaa4c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072ad160174e56" /><Relationship Type="http://schemas.openxmlformats.org/officeDocument/2006/relationships/notesMaster" Target="/ppt/notesMasters/notesMaster1.xml" Id="R3656c5c8f7ac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66e971cf9b4aae" /><Relationship Type="http://schemas.openxmlformats.org/officeDocument/2006/relationships/notesMaster" Target="/ppt/notesMasters/notesMaster1.xml" Id="R9fe91b9274f1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78de07ed1d4f5f" /><Relationship Type="http://schemas.openxmlformats.org/officeDocument/2006/relationships/notesMaster" Target="/ppt/notesMasters/notesMaster1.xml" Id="Radf7e84f479549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b5aba674a3455a" /><Relationship Type="http://schemas.openxmlformats.org/officeDocument/2006/relationships/notesMaster" Target="/ppt/notesMasters/notesMaster1.xml" Id="R72e5f90e2d1f43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c95e01ca334efb" /><Relationship Type="http://schemas.openxmlformats.org/officeDocument/2006/relationships/notesMaster" Target="/ppt/notesMasters/notesMaster1.xml" Id="Rc95ecc913a4e44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8152cb34f4e2e" /><Relationship Type="http://schemas.openxmlformats.org/officeDocument/2006/relationships/notesMaster" Target="/ppt/notesMasters/notesMaster1.xml" Id="Ra0e5e3daf76449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c8fcc3af44ec6" /><Relationship Type="http://schemas.openxmlformats.org/officeDocument/2006/relationships/notesMaster" Target="/ppt/notesMasters/notesMaster1.xml" Id="R04fa423fb42c40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3eacef2a8347c4" /><Relationship Type="http://schemas.openxmlformats.org/officeDocument/2006/relationships/notesMaster" Target="/ppt/notesMasters/notesMaster1.xml" Id="R05c81a2ffa3343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283b326fb248a4" /><Relationship Type="http://schemas.openxmlformats.org/officeDocument/2006/relationships/notesMaster" Target="/ppt/notesMasters/notesMaster1.xml" Id="Rc1c654a023e448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702048430f4ebc" /><Relationship Type="http://schemas.openxmlformats.org/officeDocument/2006/relationships/notesMaster" Target="/ppt/notesMasters/notesMaster1.xml" Id="R77a2fea354fe41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4249e8a1c04cd5" /><Relationship Type="http://schemas.openxmlformats.org/officeDocument/2006/relationships/notesMaster" Target="/ppt/notesMasters/notesMaster1.xml" Id="R7f4b4d9f31d348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4afce5e54d4cfb" /><Relationship Type="http://schemas.openxmlformats.org/officeDocument/2006/relationships/notesMaster" Target="/ppt/notesMasters/notesMaster1.xml" Id="R34f33389012e4e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fda40379f34c22" /><Relationship Type="http://schemas.openxmlformats.org/officeDocument/2006/relationships/notesMaster" Target="/ppt/notesMasters/notesMaster1.xml" Id="Rfd88e78c2a3d43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708538639047a4" /><Relationship Type="http://schemas.openxmlformats.org/officeDocument/2006/relationships/notesMaster" Target="/ppt/notesMasters/notesMaster1.xml" Id="R4f28c44c0602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2b45f200fc442a" /><Relationship Type="http://schemas.openxmlformats.org/officeDocument/2006/relationships/notesMaster" Target="/ppt/notesMasters/notesMaster1.xml" Id="Radc9e625072045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442406651d4f07" /><Relationship Type="http://schemas.openxmlformats.org/officeDocument/2006/relationships/notesMaster" Target="/ppt/notesMasters/notesMaster1.xml" Id="R9622a598483d42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這一份簡報聚焦在定期考查的品質管理。命題不是把題庫重新排列，而是先決定要測什麼，再用合適的題型蒐集證據，最後確認學生的答案能不能支持我們對學習成效的判斷。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命題專業不只表現在題目難不難。範圍、配分、題型、用詞和評分方式，都是教師的專業判斷。直接沿用外部題庫可能造成事前練習重複，也可能與本校實際教學不完全一致，因此仍要逐題審查。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同一題放在不同評量裡，功能可能不同。定期考查以總結性用途為主，但考後仍然可以拿錯答資料做診斷。關鍵是不要把一次定期考查的分數，解讀成學生全部能力的定論。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四個階段最好留下可檢查的紀錄。雙向細目表不是最後補填的行政表格，而是組卷前的設計圖。答案和評分規準也應該在出題當下完成，不能等學生考完才決定。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校內定期考查常見的是先做內容效度審查，考後再參考答對率與錯答分布。信度與鑑別度會受題數、樣本大小、教學差異和試卷範圍影響，不宜只用一個門檻做結論。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難度指數在傳統定義中其實是答對率，所以數值越大，題目越容易。基礎題答對率高很合理，高階題答對率稍低也不一定有問題。小樣本只要多一兩位答對，數值就會明顯改變。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如果鑑別度很低或出現負值，先別急著淘汰題目。可能是答案鍵錯誤、題意有歧義、超出教學範圍，也可能是高分組在這個概念上同樣有迷思。校內樣本小時，更要搭配逐題檢視。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這裡用四十分快速示範，同一批題目可以同時被教材內容與認知歷程分類，所以兩組分數不是相加成八十分。實際表格要把每一題放進對應的交叉格，最後再檢查是否偏重某個單元或只考記憶。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有些單元花很多時間做實驗操作，但紙筆測驗只能測其中的概念理解與資料判讀。也有些關鍵概念時數不長，卻是後續學習基礎。配分可以調整，但需要說得出理由。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標準差較大只表示分數離平均較分散，不等於一定有雙峰，也不能直接歸因於教學。建議再看直方圖、各題答對率、缺考與班級組成，才決定需要補救或加深。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是非題容易猜，所以適合少量使用。句子要短、概念單一。不要靠一定、全部、從來不等字眼製造錯誤，也不要讓學生從答案排列猜出規律。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題幹最好是一個完整問題。若題目有圖，圖上標示、題幹數值和選項單位要一致。共同文字移回題幹後，選項就能保持短而平行。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考後可以看每個錯誤選項有多少人選。如果某個選項完全沒人選，它可能沒有誘答力。正確答案的位置要分散，但更重要的是每個錯誤選項都能對應一種合理的錯誤思路。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配合題若問題數和答案數完全相同，最後一題容易靠刪去法。填充題最好讓學生知道要填的是詞語、數字還是單位。若可能有多種同義答案，答案表要事先列出。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問答題不一定只測高階能力，也可以測基礎理解。真正重要的是答案範圍清楚、作答時間合理、評分者有一致判準。正式施測前，兩位教師可以各自評幾份樣卷，再比對差異。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先不看答案試作，最容易發現題意不清、資訊不足或答案不唯一。逐題修完後還要再看整卷，因為單題都沒有問題，整份試卷仍可能太長、配分失衡或連續出現高負荷題。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最後的品質檢核要同時看內容、形式、公平性與作答時間。情境題不必全部來自學生親身生活，但不能讓特定家庭背景成為答題優勢。完成八項確認後，再輸出正式版本。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內容依據：使用者提供之《紙筆測驗的命題原則與素養導向紙筆測驗的要素》與《簡報二_紙筆測驗的命題原則與品質檢核》；例題經口語化與教學用途改寫。封面圖片由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333422703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ddbc93bd3848c5" /><Relationship Type="http://schemas.openxmlformats.org/officeDocument/2006/relationships/slideLayout" Target="/ppt/slideLayouts/slideLayout1.xml" Id="R1b4d5af3720b4b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d5af3720b4b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5ce83739e412a" /><Relationship Type="http://schemas.openxmlformats.org/officeDocument/2006/relationships/image" Target="/ppt/media/image.png" Id="R4f822a630315405a" /><Relationship Type="http://schemas.openxmlformats.org/officeDocument/2006/relationships/notesSlide" Target="/ppt/notesSlides/notesSlide1.xml" Id="R3e4672009fec47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e12fff888414e" /><Relationship Type="http://schemas.openxmlformats.org/officeDocument/2006/relationships/notesSlide" Target="/ppt/notesSlides/notesSlide2.xml" Id="R1d2360265ebb49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a0fdb5a394cf8" /><Relationship Type="http://schemas.openxmlformats.org/officeDocument/2006/relationships/notesSlide" Target="/ppt/notesSlides/notesSlide3.xml" Id="R4f1975f939a24b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4be09f3f640b3" /><Relationship Type="http://schemas.openxmlformats.org/officeDocument/2006/relationships/notesSlide" Target="/ppt/notesSlides/notesSlide4.xml" Id="Rea95d649e80b45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71af9f04b4cf3" /><Relationship Type="http://schemas.openxmlformats.org/officeDocument/2006/relationships/notesSlide" Target="/ppt/notesSlides/notesSlide5.xml" Id="R7c42fc4fa488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191db1da44522" /><Relationship Type="http://schemas.openxmlformats.org/officeDocument/2006/relationships/notesSlide" Target="/ppt/notesSlides/notesSlide6.xml" Id="R5e760b267f3f49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312d5769c4285" /><Relationship Type="http://schemas.openxmlformats.org/officeDocument/2006/relationships/notesSlide" Target="/ppt/notesSlides/notesSlide7.xml" Id="R10083aca5e6b42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f460276094f11" /><Relationship Type="http://schemas.openxmlformats.org/officeDocument/2006/relationships/notesSlide" Target="/ppt/notesSlides/notesSlide8.xml" Id="R328e7b91ddfb45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2b2354846454e" /><Relationship Type="http://schemas.openxmlformats.org/officeDocument/2006/relationships/notesSlide" Target="/ppt/notesSlides/notesSlide9.xml" Id="R049ca1921a0243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7ee22d2f24738" /><Relationship Type="http://schemas.openxmlformats.org/officeDocument/2006/relationships/notesSlide" Target="/ppt/notesSlides/notesSlide10.xml" Id="Rcd952c1ce43747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177e329684b5a" /><Relationship Type="http://schemas.openxmlformats.org/officeDocument/2006/relationships/notesSlide" Target="/ppt/notesSlides/notesSlide11.xml" Id="Rad9c0cba33fd42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5a96f328845c5" /><Relationship Type="http://schemas.openxmlformats.org/officeDocument/2006/relationships/notesSlide" Target="/ppt/notesSlides/notesSlide12.xml" Id="R6c0954b012ce40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7a4e8f4742e4" /><Relationship Type="http://schemas.openxmlformats.org/officeDocument/2006/relationships/notesSlide" Target="/ppt/notesSlides/notesSlide13.xml" Id="R97c85ede8e974d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d3d2f839e48bf" /><Relationship Type="http://schemas.openxmlformats.org/officeDocument/2006/relationships/notesSlide" Target="/ppt/notesSlides/notesSlide14.xml" Id="R96ced95161794c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8fc86a26d4926" /><Relationship Type="http://schemas.openxmlformats.org/officeDocument/2006/relationships/notesSlide" Target="/ppt/notesSlides/notesSlide15.xml" Id="R0dc9af9e3a0b4c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8ea023e754f2f" /><Relationship Type="http://schemas.openxmlformats.org/officeDocument/2006/relationships/notesSlide" Target="/ppt/notesSlides/notesSlide16.xml" Id="R961e622f16f143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25301f7da4efa" /><Relationship Type="http://schemas.openxmlformats.org/officeDocument/2006/relationships/notesSlide" Target="/ppt/notesSlides/notesSlide17.xml" Id="Rb309ad658cae4c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22a63031540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52778-7876-4F2D-8ED6-AC905EBD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8AF8A-E452-4AFC-8D08-FE2109AF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3F84-7D20-4262-817E-1C1294B5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rPr>
              <a:t>校內命題教師研習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4243E-01D6-4496-904C-C7D98649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7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紙筆測驗的命題原則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595A5-223D-4DA3-91FF-FF2976D6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rPr>
              <a:t>試題品質檢核與校內審題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B5BF8-8478-4E67-A4D6-DBEF434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rPr>
              <a:t>從雙向細目表、題型設計到評後判讀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A6527-B6DD-4076-91D6-626BAC7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適用對象：校內定期考查命題教師與審題團隊</a:t>
            </a:r>
          </a:p>
        </p:txBody>
      </p:sp>
    </p:spTree>
    <p:extLst>
      <p:ext uri="{BB962C8B-B14F-4D97-AF65-F5344CB8AC3E}">
        <p14:creationId xmlns:p14="http://schemas.microsoft.com/office/powerpoint/2010/main" val="1264974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7F0FF-0C23-4A8C-8787-C976D5F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9C9BD-6DDE-4151-BDCA-F0D0C34C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引起動機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971DA-AA13-487D-8B87-20054362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02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F9716-EF8A-4EEC-8A43-3677EB0D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命題專業藏在每個選擇裡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8F01C-B54E-4A13-BD3B-43C709F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一份試卷，會把教師重視的學習內容說得很清楚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D8554-FA65-4005-A535-2A44D576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DF886-E2F3-4449-9F39-831706D3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範圍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055F4-1C91-4B62-B84D-E65B8345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哪些內容是本次教學真正的核心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9F2E6-9674-4E5F-83CE-C2865A20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A0C29-4E83-4F11-8053-36054D81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題型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BD62F-49A9-4AF0-9665-0889B97E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480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學生要用什麼方式展現所學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AA468-5A61-430D-A1D4-1A343302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4E06D-9CAA-40AF-A9E3-B52DFDD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判準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99E09-40C0-4719-AAED-17CD636B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005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答案正確之外，我們還想看見什麼</a:t>
            </a:r>
          </a:p>
        </p:txBody>
      </p:sp>
    </p:spTree>
    <p:extLst>
      <p:ext uri="{BB962C8B-B14F-4D97-AF65-F5344CB8AC3E}">
        <p14:creationId xmlns:p14="http://schemas.microsoft.com/office/powerpoint/2010/main" val="185141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79640-D533-4703-B1C4-DBA4AF4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5ECCC-8995-4922-8A95-131F2CD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引起動機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3ED6A-5A37-4C1E-B074-0DBE1090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03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84EB0-F6CF-48A6-8D96-4165A484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四種評量目的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BFF1A-46AF-438D-968F-4C0245DE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496D0-C757-41DA-9711-1AAA3FC4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90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安置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999E7-A130-4509-96E7-C684D343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906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教學前了解起點，例如新單元前的先備概念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F9605-32BD-4848-9A50-6CA47DF9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09790-B314-4A46-9C62-32398ECA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形成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336F4-5548-4F9E-959A-24FD5B22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教學中取得回饋，例如隨堂練習後調整教法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F73C6-2FFF-4F38-A5E0-8A08A048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D9BAE-3B68-4410-B2B1-649E35D6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診斷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C642D-7990-4249-A18E-AD6D5CF7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釐清卡住的位置，例如分數運算錯在哪一步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474A7-5BBD-48CA-84F4-ED633B4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655FC-A195-4D78-A8DA-E4F873C5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總結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78463-B436-4826-8F45-F8BAF196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339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教學後評定成效，定期考查主要屬於這一類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E288A-106D-4EBC-910F-A2944829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5DA37-5771-4D74-A0BD-49F70384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目的不同，題目、時間與結果的使用方式也會不同</a:t>
            </a:r>
          </a:p>
        </p:txBody>
      </p:sp>
    </p:spTree>
    <p:extLst>
      <p:ext uri="{BB962C8B-B14F-4D97-AF65-F5344CB8AC3E}">
        <p14:creationId xmlns:p14="http://schemas.microsoft.com/office/powerpoint/2010/main" val="1717033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3988C-0526-44AC-9686-52AC579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9CA6D-7D8F-429E-BF88-8F229A7B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44398-37EE-4BC5-88EE-A876DDEE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04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4CAE-C519-419B-AD0F-8ADDDD7F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命題工作的四個階段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3517F-E4B9-4FE7-8F90-BB3D8B00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90698-D455-4796-BC4F-4F0E94C3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85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目的與範圍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95582-3943-4F1E-AC9D-09269BA1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859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說清楚評量目的，列出教過且要檢核的內容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CBFA8-F373-4D87-8D14-AA43FC93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1629F-8409-46EE-B99F-9ECB9A1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細目與配分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D6D8F-5FAA-4554-87B0-5D8BC4FF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用雙向細目表安排內容、能力與分數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B852A-2C2C-49CD-8E7E-5DA025F3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8032F-8606-4186-8B83-4FBA9BAE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編題與組卷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C8859-0145-445A-BEF2-62B41877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選題型、寫題目、排順序並準備答案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61327-AB03-406B-B694-C98D1CAF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346EF-8381-4A42-84D9-0C0FCAE4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試作與審查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BC61A-5B7A-4BDC-8838-A96EA57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完整作答、核對時間、修正文句與評分規準</a:t>
            </a:r>
          </a:p>
        </p:txBody>
      </p:sp>
    </p:spTree>
    <p:extLst>
      <p:ext uri="{BB962C8B-B14F-4D97-AF65-F5344CB8AC3E}">
        <p14:creationId xmlns:p14="http://schemas.microsoft.com/office/powerpoint/2010/main" val="1743909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A0EB5-C255-466B-86EA-0F43D159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BA6F2-0A78-4EC0-BB58-67AD6CB0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7B8BF-F077-4FA6-AEF4-01DCED30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05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F1FE6-A699-4DCF-8A69-0B06438C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四個品質指標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9795A-FADE-4E5E-9B7E-8075C400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D6A9D-33D0-450C-83A2-3C886BFC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90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效度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86AF1-06A1-42F1-9008-0DE2F207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906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題目有沒有測到原本要測的學習目標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E8176-7B2D-4549-B77B-DE05553C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4C0A9-7D2C-4454-92C6-9947DBC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信度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2A89C-AAED-40D7-B91F-DC54B5C2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整份測驗提供的結果是否夠一致、可供判斷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B6DA3-7221-4611-9EB4-09F5131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8C80B-DFF3-43A7-929C-9B81F610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難度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ECFCA-2AF8-46ED-AD16-5AEC5082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有多少學生答對；數值越高通常代表題目越容易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5AA54-627A-4B2E-B6F6-1329BB4F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A5E85-BFC3-4FC1-B62A-6770BBE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鑑別度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7C2FD-7C55-4826-830A-D9AC7CD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339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題目是否能呈現不同學習表現學生的差異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27AA2-2D44-493F-9397-CEAB1983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E1D2E-302A-493E-8B97-9EB8AFC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四個指標要一起看，單一數字不能替題目判生死</a:t>
            </a:r>
          </a:p>
        </p:txBody>
      </p:sp>
    </p:spTree>
    <p:extLst>
      <p:ext uri="{BB962C8B-B14F-4D97-AF65-F5344CB8AC3E}">
        <p14:creationId xmlns:p14="http://schemas.microsoft.com/office/powerpoint/2010/main" val="451037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34A51-A584-49F6-A7F8-708CFB6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665B3-0272-4E86-95EE-D9736CF8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1F104-E9C7-40AA-A5D9-B9D0E01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06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A449A-4AB1-4FD2-9BAF-DFE3BFD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難度指數：先看答對比例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FDF10-E95D-4E74-8FA4-80285CE1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2A400-4629-47BD-A1CD-A158FEF4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全學年 30 位學生中，有 18 位答對某題。這一題的難度指數是多少？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4C6B6-162A-4210-8786-E96283BC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計算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9D2C7-B01C-40BB-A57E-D2499112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90512-AD53-4023-98C5-6C5A1A5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18 除以 30，得到 0.60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A1D07-F8FE-4157-96AA-A194BD28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解讀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CA6E5-2562-4FB0-BB86-8B434275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44B40-08AF-462B-BF0D-DB13722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有六成學生答對；數值越高，題目通常越容易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AA313-3E29-4DCF-9864-B7AB931D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再追問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47170-697C-4A12-8F0B-41254FA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BF10C-65A8-48DE-94F6-7AFFEB60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這題原本要測基礎熟練，還是要拉開高階表現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38587-07F6-4B83-B9F0-25E1439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380B6-6029-4EAD-9D30-A9B20214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0.60 不是好或壞的判決，還要回到題目目的</a:t>
            </a:r>
          </a:p>
        </p:txBody>
      </p:sp>
    </p:spTree>
    <p:extLst>
      <p:ext uri="{BB962C8B-B14F-4D97-AF65-F5344CB8AC3E}">
        <p14:creationId xmlns:p14="http://schemas.microsoft.com/office/powerpoint/2010/main" val="1568233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9F683-14E0-4D1D-A0C6-4B7DAFA5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A2F56-8681-414F-B5D0-C3B5E18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A3498-A094-464D-8883-A3BCC424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07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6B65-B106-40B8-99D3-307EF4D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鑑別度：比較高低分組表現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C82CA-F78E-41A4-88BB-8AE78A17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83226-37EC-47B0-BA7E-78DE9FBF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高分組 10 人有 8 人答對，低分組 10 人有 3 人答對。兩組答對率相差多少？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5CF4E-68F4-4E65-AEF3-D501260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高分組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DA043-5ECF-47B6-836C-1FCC2025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BFE1E-4F46-4B25-8192-8989EADF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8 除以 10，答對率是 0.80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CDD21-6ABD-48DB-99B1-F4C5AAB5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低分組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799F3-A839-45CC-AC52-1C0FA90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BBD6F-B78D-487F-B2D6-66D15F5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3 除以 10，答對率是 0.30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219CF-DC2C-46D5-8A0A-C4E8402D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相減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71F40-22D3-4144-B02E-BA2E9909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6DFC0-59AD-449C-85DB-CBDF459A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0.80 減 0.30，鑑別度是 0.50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9B7E9-A575-4359-8AAF-B8F10A41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F16A6-6606-4812-B479-F4F4E800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數值只能當線索，仍要檢查題意、答案與教學內容</a:t>
            </a:r>
          </a:p>
        </p:txBody>
      </p:sp>
    </p:spTree>
    <p:extLst>
      <p:ext uri="{BB962C8B-B14F-4D97-AF65-F5344CB8AC3E}">
        <p14:creationId xmlns:p14="http://schemas.microsoft.com/office/powerpoint/2010/main" val="840740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3125C4-08F8-4119-90FB-2D38C0CD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9E2A2-D49C-4E1F-A258-C8B2D5E5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72D95-8F22-49A2-BB34-D474A820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08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63F54-338D-4D95-BC3F-9F2DF9A7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雙向細目表是組卷設計圖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CE4F4-2837-43D9-BA64-098B54B8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先安排內容，再確認要看見的認知歷程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2D5B-D93C-4290-A45A-32AA885F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C6918-C66B-4B80-8E62-B60E8D17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評分面向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8817C-918C-4B1F-B274-F3F6376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05CB7-134F-4806-99DB-7AE15279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可觀察表現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56CD0-A824-4226-91F5-3CD0BA4F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823D7-48C9-41F7-AECE-F6F1007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097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配分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D348A-55AA-4D42-BC8B-C4A8F15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127C5-ACE4-4AFD-8702-933F4B88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教材內容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57517-398D-404F-9DA2-56FF8F93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2E724-4D69-495B-97F1-342B1A39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574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生鏽的條件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B4E58-7FB6-4E10-8CCC-0095CFF8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40A36-D686-4641-A726-BEB46867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574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24 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CA790-CC1F-40C5-BECB-C1D41DAA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54A6A-3852-4FF6-A0A8-AD71C95E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教材內容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B425E-234D-47A5-917B-D0E951E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480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D752F-DCFC-4845-814C-0A95B15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防鏽的方法與應用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32EB9-5B63-49F9-BBAD-091D15E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480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4D3D1-6A62-4CEE-A6CA-0DD52051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051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16 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77210-12F2-49DF-A6C4-850B3997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37589-E2C8-4146-BEA8-2D040E0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認知歷程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C2110-4AAB-40C2-838A-4B7C40A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DD6CB-3510-4A7E-98D1-FC789B75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528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記憶與了解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4D320-5B7F-4662-BA46-426774DB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957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E9279-7ED7-4226-A37B-F46CC155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528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18 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7C1F6-F32D-4338-A69C-B0226045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8B970-DC92-4062-975D-097873C1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認知歷程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B5E3F8-0C02-4682-9CB5-4D496FE3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434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87E318-1F20-4F78-B63E-9CDC036B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005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應用、分析與解釋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FB71DC-7E77-43BB-AC5F-71F0C41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434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ED4D82-EC41-4B37-BFB1-787421FB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005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22 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2BE77-BD4A-4045-95A2-A75D4F19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EBB798-6303-41C0-AEDA-AF728753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表格要幫助檢查分布，不是考完後才補齊數字</a:t>
            </a:r>
          </a:p>
        </p:txBody>
      </p:sp>
    </p:spTree>
    <p:extLst>
      <p:ext uri="{BB962C8B-B14F-4D97-AF65-F5344CB8AC3E}">
        <p14:creationId xmlns:p14="http://schemas.microsoft.com/office/powerpoint/2010/main" val="1501157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DFAB5-68F1-4E11-90A5-F61D885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277E6-6AF0-4CFE-8C41-D05B94B7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06018-5BEC-4142-81B3-030267D5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09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6943A-931A-45F3-B2C8-3883B3F4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配分不必機械等於授課時數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1CA87-859B-4D32-8FD5-F5C8922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9DC69-1FD6-4FA6-B994-31A1F00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39A10-E58E-4334-A3A2-88B7E24F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可以參考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3A880-8931-4EA2-B47B-51C3BF4D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某單元占授課時間約四成，試卷通常也要有相當的代表性。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E5EF-328B-41A5-8992-50994DBE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2CD55-4F8E-43E4-9BAA-32C81CA1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時數能提醒我們是否遺漏重要單元。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7C805-4FC4-449B-B676-7EE48C02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874B4-BC12-48FF-9FE8-BD774F30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CC4BE-2C3C-4897-ACDE-2FE71EFE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仍要專業調整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8DCE9-678C-4E3C-A156-B62DB8C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核心概念、題型耗時、無法用紙筆測量的活動，都會影響配分。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C5F81-CE99-469E-A34A-A3C9B0AE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E1C25-AE5E-41C6-B9AB-9E7D1851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調整後要在細目表留下理由。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40B4C-EFB8-4E9D-B5D1-DF410B9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B696F-DE7A-4348-9260-80A1EC0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授課時數是起點，學習重要性與可測性才是最後判斷</a:t>
            </a:r>
          </a:p>
        </p:txBody>
      </p:sp>
    </p:spTree>
    <p:extLst>
      <p:ext uri="{BB962C8B-B14F-4D97-AF65-F5344CB8AC3E}">
        <p14:creationId xmlns:p14="http://schemas.microsoft.com/office/powerpoint/2010/main" val="1788303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15463-F026-4D46-9CDE-80E8429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B8A2D-9C68-4040-AB22-CB72893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9B484-C05F-4F32-B095-FA3DF14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10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6333A-7A62-4C56-89B7-E722C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平均數與標準差怎麼看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F2DCA-6EC9-4780-B95E-A82A2926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9B775-A9E7-465E-9948-01C60D77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B98D0-EE81-4073-8931-2A0E3EB9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A 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77D3A-6B8C-42C3-9A56-09460CE3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平均 82 分，標準差 8 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1C00C-7781-4611-B648-723266D7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080A1-D156-487F-810D-DF495E65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分數較集中，但看不出集中在哪些題目。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DA1F4-D4E9-46AD-B742-875AED05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0AF4C-EB68-488E-A55E-962D0CFF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CEF4A-AF03-4BDB-A470-9F1D1256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B 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01D75-FF7B-4837-B388-044DD834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平均 82 分，標準差 16 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34D07-EB6E-46DB-932D-AFDAD925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0B57D-02F9-48DF-8210-01125FA7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分數較分散，但不能只憑這個數字判定雙峰。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9B3B1-5926-4FEE-958F-80D3CF6A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919CE-B5EA-4222-B562-6F3C1E5E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同平均不代表同學習狀況；還要看分布、題目與教學脈絡</a:t>
            </a:r>
          </a:p>
        </p:txBody>
      </p:sp>
    </p:spTree>
    <p:extLst>
      <p:ext uri="{BB962C8B-B14F-4D97-AF65-F5344CB8AC3E}">
        <p14:creationId xmlns:p14="http://schemas.microsoft.com/office/powerpoint/2010/main" val="1757200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A1642-F5F5-47DE-ADF7-48F95011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31B1-D8AE-40A8-B630-DDA06F65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362C2-65BC-4E98-8CCD-E1A6D41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11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0456C-CF7E-47EB-9916-5A8527B0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是非題：一句只判斷一件事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10963-F828-4A2E-941B-61826D2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9A662-2E54-4798-8A95-1D1F1B3E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C4B5B-73C9-4FDD-A7AC-937FC55B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不佳寫法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3A4B2-8528-4E9E-B081-F1EF4B76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保麗龍不容易傳熱，適合保冷，但不適合保溫。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A3640-B016-42DF-BFAB-BD1BA1F0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B7996-8963-4F30-9F90-4FF03984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同時放入兩個判斷，學生答錯時不知道錯在哪裡。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93CC7-1B1F-42EE-B0D7-B45B59A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B73E7-F470-42A2-8BE3-A825F4B2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ED074-07B4-4761-8C24-6E0C982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較清楚的寫法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A2D9B-2A47-4FD4-BCA9-D86A317D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保麗龍不容易傳熱，可減慢冰塊從環境吸收熱。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9F532-B290-401A-851C-0986EF8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D0601-3F3D-45A2-936C-D38A3DBB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句子只檢核一個概念，也避免雙重否定。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16EC6-7F9D-4F93-9B50-1AB262AC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1712B-ED85-496C-AE25-B171AF01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少用絕對詞與否定句，對錯題數不必刻意形成可猜規律</a:t>
            </a:r>
          </a:p>
        </p:txBody>
      </p:sp>
    </p:spTree>
    <p:extLst>
      <p:ext uri="{BB962C8B-B14F-4D97-AF65-F5344CB8AC3E}">
        <p14:creationId xmlns:p14="http://schemas.microsoft.com/office/powerpoint/2010/main" val="2099277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56716-ACE8-49DD-BA39-80F11B50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F1F58-41A5-4DDC-96FC-40EEE695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A477A-6376-439F-B2FE-06A2C785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12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24101-FE33-47FF-BB1B-0EC16B8C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選擇題：題幹先說完整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F8601-42A6-426E-A244-49F0BBAC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33181-BB45-46F6-86A5-F80EC563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BDC98-46C0-47B6-B3CB-127B4716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共同文字重複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B8AEF-AA96-4705-A3E6-9E67E507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選項都寫成離支點 20 公分、離支點 25 公分、離支點 30 公分。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B70ED-6F31-4201-971F-C2100E47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D9F8F-F049-4C2D-A25D-3B9A5636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學生反覆讀相同文字，增加不必要的負荷。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C1C37-4349-4DAC-90FE-A1B85E9A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D5E1B-9226-4A7A-9E49-5A02B5E6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01842-B1E0-46F4-8667-798F4306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共同文字放回題幹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40F65-AA65-4348-BBB2-ADEFA11F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題幹寫：書包掛在離支點多少公分處最省力？選項只保留 20、25、30、35 公分。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ABF53-385B-487A-85F7-A29EB424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0B5CD-012A-4652-9824-52A700CF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圖表放在題幹後、選項前，閱讀順序更清楚。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D88EF-0347-4482-93CD-056145B4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EE9E7-CCAC-4C06-A372-18B860A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題幹要讓學生看完就知道要回答什麼</a:t>
            </a:r>
          </a:p>
        </p:txBody>
      </p:sp>
    </p:spTree>
    <p:extLst>
      <p:ext uri="{BB962C8B-B14F-4D97-AF65-F5344CB8AC3E}">
        <p14:creationId xmlns:p14="http://schemas.microsoft.com/office/powerpoint/2010/main" val="10136251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36F82-32AB-4D6F-9975-294744D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6633C-3578-4F2A-AFD9-6BBB99C1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65FA1-0742-42F8-ABB6-FB2F7FF1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13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27C35-AA6B-4ED0-8503-6A8168AF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錯誤選項要對應常見迷思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AFD87-AF2D-4AAE-A7AE-9579431D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600 毫升果汁喝掉三分之一後，還剩多少毫升？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ED62C-C80D-4BB2-AB27-2882FE2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9CF4B-B7BF-4246-99FA-2B627CA6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97836-6101-498D-AA25-651A6C9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算出喝掉的量，忘了再求剩下多少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6B054-A5B5-4C6B-9A42-C4C48C1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D2915-0B68-4384-B9EC-4AAB482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3C879-F014-4E31-9EA4-83F5B524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300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3D954-A5FD-4965-8E44-26A2054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194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把三分之一誤當成一半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F3AAD-EEF6-44AC-B5A3-F77908B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95D2F-ADA3-4240-A1E8-7F39D44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0751A-8F58-461A-9424-8B19B373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004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0BE66-00CB-4984-9D91-E019EFF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004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先算 600 的三分之一，再從原量扣除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055B2-D5E7-470F-9432-5436B8EA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BB112-82F1-4885-B1E2-D8853E65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0E6AB-8C3C-4502-9B44-31FDAC92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815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599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D4B6F-F4B3-4702-82D8-3348911F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815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把三分之一誤解成只減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94DF9-695F-41E8-8C4A-82E5B7A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3DB30-0B18-47FA-99E6-3CC3D4A0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B96C5-5CDE-4C36-8FF0-4D63006D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有效干擾項來自學生真實錯法，不是搞笑答案</a:t>
            </a:r>
          </a:p>
        </p:txBody>
      </p:sp>
    </p:spTree>
    <p:extLst>
      <p:ext uri="{BB962C8B-B14F-4D97-AF65-F5344CB8AC3E}">
        <p14:creationId xmlns:p14="http://schemas.microsoft.com/office/powerpoint/2010/main" val="16629527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80A2E-F7B8-43FA-8BA0-1BB0C9B3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B29F0-AA25-4541-B437-7C29D0A8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CEA95-CA52-49DE-8B39-7400AB4C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14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0ABC1-D0C3-4507-80AB-A8BC30D5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配合題與填充題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7FECA-9D55-47A6-B8B4-E7F4A313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FA9FC-816C-4FA2-B1CB-91460768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48F46-155A-46CD-A305-E1DD1E3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配合題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D6218-BD4F-4E89-A98D-306590C2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左欄都放水生植物名稱，右欄都放生長型態，並多放兩個合理干擾項。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13AFA-2C2C-46DD-A4C2-E400E17C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1FC4C-ED17-412A-8DCF-13CEF7D7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問題與答案要同頁，作答方式寫清楚。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E837B-CAD3-4F8A-BC90-A9782EC5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872C9-BD57-417C-86BF-914FACD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4CDE1-4E27-4768-9E05-3953678B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填充題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88FC1-2B78-4513-A1E7-E74A426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問：水由液態變成氣態的過程叫什麼？答案只需填蒸發。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5B7F4-0F1C-4230-9403-737107F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6B27A-B449-421A-9FB4-6FD2D078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避免一題挖太多空格，或讓答案範圍過大。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47676-2982-47F9-8289-0407E98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5E6F6-4469-4147-B320-202A9AA0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配合題重視同質性；填充題重視答案短、明確且唯一</a:t>
            </a:r>
          </a:p>
        </p:txBody>
      </p:sp>
    </p:spTree>
    <p:extLst>
      <p:ext uri="{BB962C8B-B14F-4D97-AF65-F5344CB8AC3E}">
        <p14:creationId xmlns:p14="http://schemas.microsoft.com/office/powerpoint/2010/main" val="647361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72849B-C5E1-4727-BB6E-5FFE37DF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38F12-9EB8-4531-A153-67E863D2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喚起行動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BDF3C-AC60-47C7-B986-CD4FC8D6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15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16B3D-8A0A-45DF-AB23-64107B25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問答題要和評分規準一起寫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A1BB5-C6AD-4707-8988-A286824A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題目：根據文章推論人物態度改變的原因，並提出兩個文本證據。滿分 4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3BF5A-1CE5-45BE-9836-49F3A04E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A5DA6-0C96-4620-82B1-E9E4457D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評分面向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24229-579F-4AC1-AA0B-0CECA155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93DCF-F1ED-4540-9EDA-2B59EC8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661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可觀察表現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E18F6-5124-4C20-B13C-57084785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0F6BD-3A34-4581-846B-79C1D7E1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09775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配分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70AC5-D154-4D05-BB24-F50CF97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87DA-C887-4272-BDD6-D7687153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推論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13D96-43BA-4339-A88A-BC7E79D8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9ACCF-EBE7-4A45-A159-1336EBF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71775"/>
            <a:ext cx="661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原因合理，且符合全文脈絡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7F3A2-46ED-47DC-9B68-1EA175E8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1462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788B1-0FA0-466B-941E-605AF825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71775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 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4F399-178F-47E0-9FB4-273E6BD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A083F-A06E-46E0-AA78-92F0100D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C753E-C973-4C6B-9B31-4F796BF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08BB4-4693-4F49-8EF4-D8D0B95C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33775"/>
            <a:ext cx="661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提出兩個正確、具體的文本證據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9EF0F-B5D1-464C-98FD-D2FF0623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47662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4CDCE-83A8-4622-9EC9-31C2143E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33775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2 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D27D2-2FBD-4E22-A286-A532355E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DE21A-A89E-4F6E-86A8-DB7F191B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連結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FC6B6-3E2B-4096-97D7-1E0D644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D20BC-2F90-416A-89F8-B008C48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95775"/>
            <a:ext cx="661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說明證據如何支持自己的推論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705B1-E425-4D86-A319-F9FC46EF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3862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FD8B0-C3E8-4235-8A36-FBD9230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95775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 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2B6F4-B037-45F7-A8C5-82EDB87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B78B7-3856-4256-8449-FDD6134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題目要求幾件事，評分規準就要逐項看得見</a:t>
            </a:r>
          </a:p>
        </p:txBody>
      </p:sp>
    </p:spTree>
    <p:extLst>
      <p:ext uri="{BB962C8B-B14F-4D97-AF65-F5344CB8AC3E}">
        <p14:creationId xmlns:p14="http://schemas.microsoft.com/office/powerpoint/2010/main" val="9922250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26C31-E1A1-4B16-B2E7-8B860146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09FBC-B0B5-41E0-A3B6-8C082A1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喚起行動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5CA90-5DD9-4C5B-9CE2-97AF0F05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16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97DCE-8B1A-403F-AC91-D87DAFED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校內審題的實際流程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02FD2-E988-428B-BE4A-846AC733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DC9B4-8603-40F9-96D8-06FCA508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85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獨立試作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F9A6-B19D-469A-A4AA-BA1BE898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859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審題教師先在不看答案的情況下完整作答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01E2D-3D55-4566-95E2-E0CF562C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03873-8421-49B2-B6F7-8A2A977E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逐題對照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1CEB1-630A-417E-8D65-DCA92973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核對目標、答案、配分、圖表、單位與選項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FA6BE-7CAF-4F3C-94A0-123EFD3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C929E-6053-4E2E-8070-A3489B54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整卷檢查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E502D-7B0E-46EE-A838-5E6EAB7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看內容分布、難易節奏、頁面銜接與作答時間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21C84-6AAE-4370-81E7-5704C1B7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27F90-E584-4AAB-8BF5-1A938156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留下紀錄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2843-9D0F-4265-A101-96BC8503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記下修正理由、最後答案與評分規準版本</a:t>
            </a:r>
          </a:p>
        </p:txBody>
      </p:sp>
    </p:spTree>
    <p:extLst>
      <p:ext uri="{BB962C8B-B14F-4D97-AF65-F5344CB8AC3E}">
        <p14:creationId xmlns:p14="http://schemas.microsoft.com/office/powerpoint/2010/main" val="11561154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369CE-C0DA-4DF4-8946-13CF18A4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CEA2-CDD5-484A-9BF6-7FBFA1F5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喚起行動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31917-744E-4E2D-A56F-038DAFAC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17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239BE-DF41-480B-9D40-704433DB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交卷前的八項確認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4199C-66F6-443A-A899-D504280F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76B8E-D85F-4ED6-9EA7-933813EA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716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每題都能說出對應的學習目標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F6065-25AF-4468-8B51-71AE93D7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9F8B4-ABC1-45C9-A034-59C8FAC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03672-A81E-4CE5-9004-A437E02C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題意清楚，答案唯一或評分規準完整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5E121-4932-44BF-88B8-F5F012F5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7887E-6197-42C0-88F6-118ACCFD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3767B-BC37-4BF0-A92D-BBCB1F6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圖表、數字、單位與答案互相一致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25CC6-5DB8-4A62-9586-D72FB421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481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25B6B-C180-4977-BC7F-3B15A03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03848-6C69-43D7-B6FA-C87859AE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720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沒有無意間暗示答案的線索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44412-98AC-40CE-BB96-4D23279C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149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B79C8-0A60-42BE-848C-2293C42F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EABCA-CE54-43D5-A097-02D5E44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716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內容不偏向特定家庭經驗或文化背景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4DAE1-ED6A-4CE2-985C-CB17762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65AF3-0535-42E6-8006-13DCB644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39A36-A1A5-4A94-A875-9DF5CE6E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384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題目難度與配分符合評量目的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6EB01-278A-49ED-A88B-51759D0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EE4CD-DE31-4E8E-A2F1-C9CDA09D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74378-EC81-4154-9825-D45965F2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052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整份試卷已有人完整試作並計時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43B0F-6C00-4EA0-9930-53901D8A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481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52BAC-D720-413E-8E56-1923882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52CC62-134B-4A86-A61B-2946037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720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答案、配分與修訂版本已由命題及審題教師確認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C99FF-4271-40F8-8C4E-5299F50A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149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36862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2026-09-08T08:35:46.1880000Z</dcterms:created>
  <dcterms:modified xsi:type="dcterms:W3CDTF">2026-09-08T08:35:46.1880000Z</dcterms:modified>
</coreProperties>
</file>